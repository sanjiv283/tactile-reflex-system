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F3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88720"/>
            <a:ext cx="786384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8872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Latency-Optimal Tactile Reflex System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AI-assisted, deterministic FPGA-based tactile controller for robotic gripper actuation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97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Terasic DE2-115  |  Verilog design, verification and AI/ML evaluation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AI advises, FPGA protects</a:t>
            </a:r>
            <a:endParaRPr lang="en-US" sz="3600" dirty="0"/>
          </a:p>
        </p:txBody>
      </p:sp>
      <p:sp>
        <p:nvSpPr>
          <p:cNvPr id="3" name="card AI/ML path: advisory"/>
          <p:cNvSpPr/>
          <p:nvPr/>
        </p:nvSpPr>
        <p:spPr>
          <a:xfrm>
            <a:off x="457200" y="1188720"/>
            <a:ext cx="2606040" cy="27432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AI/ML path: advisory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64592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Classifies contact, grip condition and force category. Predicts excessive force. Runs on a laptop over a UART link. May be wrong, late or absent.</a:t>
            </a:r>
            <a:endParaRPr lang="en-US" sz="1600" dirty="0"/>
          </a:p>
        </p:txBody>
      </p:sp>
      <p:sp>
        <p:nvSpPr>
          <p:cNvPr id="6" name="card FPGA path: authoritative"/>
          <p:cNvSpPr/>
          <p:nvPr/>
        </p:nvSpPr>
        <p:spPr>
          <a:xfrm>
            <a:off x="3268980" y="1188720"/>
            <a:ext cx="2606040" cy="2743200"/>
          </a:xfrm>
          <a:prstGeom prst="roundRect">
            <a:avLst>
              <a:gd name="adj" fmla="val 280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06140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FPGA path: authoritative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06140" y="164592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ADC, fixed-function LUT, Safety Governor, PWM. No CPU and no software loop in the critical reflex path. Bounded, measurable latency.</a:t>
            </a:r>
            <a:endParaRPr lang="en-US" sz="1600" dirty="0"/>
          </a:p>
        </p:txBody>
      </p:sp>
      <p:sp>
        <p:nvSpPr>
          <p:cNvPr id="9" name="card The rule"/>
          <p:cNvSpPr/>
          <p:nvPr/>
        </p:nvSpPr>
        <p:spPr>
          <a:xfrm>
            <a:off x="6080760" y="1188720"/>
            <a:ext cx="2606040" cy="2743200"/>
          </a:xfrm>
          <a:prstGeom prst="roundRect">
            <a:avLst>
              <a:gd name="adj" fmla="val 280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The rule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64592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If a hard limit is violated, the Governor overrides the AI result and enters the safe state. The AI can only lower the command, never raise it.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Research gaps</a:t>
            </a:r>
            <a:endParaRPr lang="en-US" sz="3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4297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Research need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How this work responds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Keep ML out of the safety-critical path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Hardware Governor enforces limits; AI can only lower the command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Separate sensing, inference and actuation latency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T_FPGA, T_ML and jitter are reported separately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Reproducible verification of AI-override behaviour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Open Verilog, 175 directed checks, replay with an adversarial AI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Low-cost, open tactile reflex platforms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Commodity parts, open RTL and Python pipeline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Next research step: validation with recorded sensor data across objects.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Novel contributions</a:t>
            </a:r>
            <a:endParaRPr lang="en-US" sz="3600" dirty="0"/>
          </a:p>
        </p:txBody>
      </p:sp>
      <p:sp>
        <p:nvSpPr>
          <p:cNvPr id="3" name="card Advisory-only AI"/>
          <p:cNvSpPr/>
          <p:nvPr/>
        </p:nvSpPr>
        <p:spPr>
          <a:xfrm>
            <a:off x="457200" y="118872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Advisory-only AI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64592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AI can only lower the command; checked with an always-wrong AI.</a:t>
            </a:r>
            <a:endParaRPr lang="en-US" sz="1400" dirty="0"/>
          </a:p>
        </p:txBody>
      </p:sp>
      <p:sp>
        <p:nvSpPr>
          <p:cNvPr id="6" name="card Predictive pre-limit"/>
          <p:cNvSpPr/>
          <p:nvPr/>
        </p:nvSpPr>
        <p:spPr>
          <a:xfrm>
            <a:off x="3264408" y="118872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01568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Predictive pre-limit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01568" y="164592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Fixed-function slope predictor trips ahead of the hard limit, no ML.</a:t>
            </a:r>
            <a:endParaRPr lang="en-US" sz="1400" dirty="0"/>
          </a:p>
        </p:txBody>
      </p:sp>
      <p:sp>
        <p:nvSpPr>
          <p:cNvPr id="9" name="card Self-checking AI link"/>
          <p:cNvSpPr/>
          <p:nvPr/>
        </p:nvSpPr>
        <p:spPr>
          <a:xfrm>
            <a:off x="6071616" y="118872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Self-checking AI link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08776" y="164592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Checksum, class check and heartbeat; falls back to FPGA-only.</a:t>
            </a:r>
            <a:endParaRPr lang="en-US" sz="1400" dirty="0"/>
          </a:p>
        </p:txBody>
      </p:sp>
      <p:sp>
        <p:nvSpPr>
          <p:cNvPr id="12" name="card Instant fail-safe"/>
          <p:cNvSpPr/>
          <p:nvPr/>
        </p:nvSpPr>
        <p:spPr>
          <a:xfrm>
            <a:off x="457200" y="288036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99008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Instant fail-safe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33756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PWM killed on the next clock; latched NC e-stop; 4 to 5 cycle path.</a:t>
            </a:r>
            <a:endParaRPr lang="en-US" sz="1400" dirty="0"/>
          </a:p>
        </p:txBody>
      </p:sp>
      <p:sp>
        <p:nvSpPr>
          <p:cNvPr id="15" name="card Separated latency"/>
          <p:cNvSpPr/>
          <p:nvPr/>
        </p:nvSpPr>
        <p:spPr>
          <a:xfrm>
            <a:off x="3264408" y="288036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01568" y="299008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Separated latency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401568" y="333756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T_FPGA, T_ML and jitter reported apart, never summed.</a:t>
            </a:r>
            <a:endParaRPr lang="en-US" sz="1400" dirty="0"/>
          </a:p>
        </p:txBody>
      </p:sp>
      <p:sp>
        <p:nvSpPr>
          <p:cNvPr id="18" name="card Low-cost and open"/>
          <p:cNvSpPr/>
          <p:nvPr/>
        </p:nvSpPr>
        <p:spPr>
          <a:xfrm>
            <a:off x="6071616" y="288036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08776" y="299008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Low-cost and open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208776" y="333756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DE2-115, commodity sensor, laptop AI, open RTL and Python.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57200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Technical description only; not a prior-art or patentability conclusion.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System architecture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FPGA (Cyclone IV E): safety-critical reflex path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463040"/>
            <a:ext cx="1005840" cy="731520"/>
          </a:xfrm>
          <a:prstGeom prst="roundRect">
            <a:avLst>
              <a:gd name="adj" fmla="val 75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11480" y="14630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Sensor + ADC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645920" y="1463040"/>
            <a:ext cx="1188720" cy="731520"/>
          </a:xfrm>
          <a:prstGeom prst="roundRect">
            <a:avLst>
              <a:gd name="adj" fmla="val 7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691640" y="14630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Fixed LUT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108960" y="1463040"/>
            <a:ext cx="1371600" cy="731520"/>
          </a:xfrm>
          <a:prstGeom prst="roundRect">
            <a:avLst>
              <a:gd name="adj" fmla="val 75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154680" y="14630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Safety Governor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54880" y="1463040"/>
            <a:ext cx="1005840" cy="731520"/>
          </a:xfrm>
          <a:prstGeom prst="roundRect">
            <a:avLst>
              <a:gd name="adj" fmla="val 7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00600" y="14630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PWM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035040" y="1463040"/>
            <a:ext cx="1188720" cy="731520"/>
          </a:xfrm>
          <a:prstGeom prst="roundRect">
            <a:avLst>
              <a:gd name="adj" fmla="val 75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80760" y="14630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Driver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498080" y="1463040"/>
            <a:ext cx="1188720" cy="731520"/>
          </a:xfrm>
          <a:prstGeom prst="roundRect">
            <a:avLst>
              <a:gd name="adj" fmla="val 75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43800" y="14630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Actuator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371600" y="1828800"/>
            <a:ext cx="27432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834640" y="1828800"/>
            <a:ext cx="27432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480560" y="1828800"/>
            <a:ext cx="27432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760720" y="1828800"/>
            <a:ext cx="27432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223760" y="1828800"/>
            <a:ext cx="27432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65760" y="3200400"/>
            <a:ext cx="1005840" cy="731520"/>
          </a:xfrm>
          <a:prstGeom prst="roundRect">
            <a:avLst>
              <a:gd name="adj" fmla="val 75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1480" y="32004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Features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743200" y="3200400"/>
            <a:ext cx="1737360" cy="731520"/>
          </a:xfrm>
          <a:prstGeom prst="roundRect">
            <a:avLst>
              <a:gd name="adj" fmla="val 75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788920" y="32004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Decision tree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68680" y="2194560"/>
            <a:ext cx="0" cy="100584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371600" y="3566160"/>
            <a:ext cx="137160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 flipV="1">
            <a:off x="3794760" y="2194560"/>
            <a:ext cx="0" cy="1005840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dash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3931920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advisory class over UART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365760" y="4023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Laptop (UART link): AI/ML, logging, visualization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754880" y="32918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Hard limits are checked first; AI advice second.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Circuit diagram</a:t>
            </a:r>
            <a:endParaRPr lang="en-US" sz="3600" dirty="0"/>
          </a:p>
        </p:txBody>
      </p:sp>
      <p:pic>
        <p:nvPicPr>
          <p:cNvPr id="3" name="Image 0" descr="Wiring schematic: FSR divider, Pmod AD1, DE2-115, DRV8871, motor, e-s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852160" cy="3776472"/>
          </a:xfrm>
          <a:prstGeom prst="rect">
            <a:avLst/>
          </a:prstGeom>
        </p:spPr>
      </p:pic>
      <p:sp>
        <p:nvSpPr>
          <p:cNvPr id="4" name="card Sensing"/>
          <p:cNvSpPr/>
          <p:nvPr/>
        </p:nvSpPr>
        <p:spPr>
          <a:xfrm>
            <a:off x="6492240" y="1188720"/>
            <a:ext cx="21945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629400" y="129844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Sensing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629400" y="16459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FSR divider into SPI ADC.</a:t>
            </a:r>
            <a:endParaRPr lang="en-US" sz="1400" dirty="0"/>
          </a:p>
        </p:txBody>
      </p:sp>
      <p:sp>
        <p:nvSpPr>
          <p:cNvPr id="7" name="card Actuation"/>
          <p:cNvSpPr/>
          <p:nvPr/>
        </p:nvSpPr>
        <p:spPr>
          <a:xfrm>
            <a:off x="6492240" y="2331720"/>
            <a:ext cx="21945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29400" y="244144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Actuation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629400" y="27889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PWM to driver, fused supply.</a:t>
            </a:r>
            <a:endParaRPr lang="en-US" sz="1400" dirty="0"/>
          </a:p>
        </p:txBody>
      </p:sp>
      <p:sp>
        <p:nvSpPr>
          <p:cNvPr id="10" name="card Fail-safe"/>
          <p:cNvSpPr/>
          <p:nvPr/>
        </p:nvSpPr>
        <p:spPr>
          <a:xfrm>
            <a:off x="6492240" y="3474720"/>
            <a:ext cx="2194560" cy="1005840"/>
          </a:xfrm>
          <a:prstGeom prst="roundRect">
            <a:avLst>
              <a:gd name="adj" fmla="val 727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629400" y="358444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Fail-safe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629400" y="39319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NC e-stop, common ground.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Hardware: control and sensing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36118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Image 0" descr="Photo placeholder: DE2-1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34440"/>
            <a:ext cx="233172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26974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DE2-115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3063240"/>
            <a:ext cx="2331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Cyclone IV E EP4CE115 FPGA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50 MHz clock, RS-232 port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40-pin 3.3 V GPIO header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264408" y="1097280"/>
            <a:ext cx="2606040" cy="36118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8" name="Image 1" descr="Photo placeholder: Pmod A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1568" y="1234440"/>
            <a:ext cx="2331720" cy="1371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401568" y="26974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Pmod AD1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3401568" y="3063240"/>
            <a:ext cx="2331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 x AD7476A, 12-bit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Up to 1 MSPS, SPI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Wired to the GPIO header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071616" y="1097280"/>
            <a:ext cx="2606040" cy="36118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2" name="Image 2" descr="Photo placeholder: FSR 40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8776" y="1234440"/>
            <a:ext cx="2331720" cy="1371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208776" y="26974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FSR 402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208776" y="3063240"/>
            <a:ext cx="2331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Interlink force-sensing resistor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12.7 mm round active area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Voltage divider with 10 kOhm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Hardware: actuation and safety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36118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Image 0" descr="Photo placeholder: DRV8871 breako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34440"/>
            <a:ext cx="233172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26974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DRV8871 breakout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3063240"/>
            <a:ext cx="2331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Single H-bridge, PWM input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6.5 to 45 V, 3.6 A peak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Current limit, thermal trip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264408" y="1097280"/>
            <a:ext cx="2606040" cy="36118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8" name="Image 1" descr="Photo placeholder: Geared DC mot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1568" y="1234440"/>
            <a:ext cx="2331720" cy="1371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401568" y="26974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Geared DC motor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3401568" y="3063240"/>
            <a:ext cx="2331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12 V, stall below 2 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Driven by the DRV8871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Gripper mechanism load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071616" y="1097280"/>
            <a:ext cx="2606040" cy="36118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2" name="Image 2" descr="Photo placeholder: E-stop and supp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8776" y="1234440"/>
            <a:ext cx="2331720" cy="1371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208776" y="26974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E-stop and supply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208776" y="3063240"/>
            <a:ext cx="2331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NC mushroom, 22 mm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12 V 3 A supply, 2 A fuse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1000 uF bulk capacitor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Safety Governor rules</a:t>
            </a:r>
            <a:endParaRPr lang="en-US" sz="3600" dirty="0"/>
          </a:p>
        </p:txBody>
      </p:sp>
      <p:sp>
        <p:nvSpPr>
          <p:cNvPr id="3" name="card 1  Maximum force"/>
          <p:cNvSpPr/>
          <p:nvPr/>
        </p:nvSpPr>
        <p:spPr>
          <a:xfrm>
            <a:off x="457200" y="11887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  Maximum force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6459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Force at or above FORCE_MAX trips the safe state, with release hysteresis.</a:t>
            </a:r>
            <a:endParaRPr lang="en-US" sz="1400" dirty="0"/>
          </a:p>
        </p:txBody>
      </p:sp>
      <p:sp>
        <p:nvSpPr>
          <p:cNvPr id="6" name="card 2  Sensor fault"/>
          <p:cNvSpPr/>
          <p:nvPr/>
        </p:nvSpPr>
        <p:spPr>
          <a:xfrm>
            <a:off x="3264408" y="11887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01568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  Sensor fault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01568" y="16459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Persistent invalid readings or a silent ADC latch a fault.</a:t>
            </a:r>
            <a:endParaRPr lang="en-US" sz="1400" dirty="0"/>
          </a:p>
        </p:txBody>
      </p:sp>
      <p:sp>
        <p:nvSpPr>
          <p:cNvPr id="9" name="card 3  Emergency stop"/>
          <p:cNvSpPr/>
          <p:nvPr/>
        </p:nvSpPr>
        <p:spPr>
          <a:xfrm>
            <a:off x="6071616" y="11887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  Emergency stop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08776" y="16459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Fail-safe input: an open contact or cut wire stops the output.</a:t>
            </a:r>
            <a:endParaRPr lang="en-US" sz="1400" dirty="0"/>
          </a:p>
        </p:txBody>
      </p:sp>
      <p:sp>
        <p:nvSpPr>
          <p:cNvPr id="12" name="card 4  Invalid ADC value"/>
          <p:cNvSpPr/>
          <p:nvPr/>
        </p:nvSpPr>
        <p:spPr>
          <a:xfrm>
            <a:off x="457200" y="29260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303580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  Invalid ADC value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383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Frame errors and railed readings are rejected immediately.</a:t>
            </a:r>
            <a:endParaRPr lang="en-US" sz="1400" dirty="0"/>
          </a:p>
        </p:txBody>
      </p:sp>
      <p:sp>
        <p:nvSpPr>
          <p:cNvPr id="15" name="card 5  Safe output state"/>
          <p:cNvSpPr/>
          <p:nvPr/>
        </p:nvSpPr>
        <p:spPr>
          <a:xfrm>
            <a:off x="3264408" y="29260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01568" y="303580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  Safe output state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401568" y="3383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PWM forced low on the next clock, not at the next period.</a:t>
            </a:r>
            <a:endParaRPr lang="en-US" sz="1400" dirty="0"/>
          </a:p>
        </p:txBody>
      </p:sp>
      <p:sp>
        <p:nvSpPr>
          <p:cNvPr id="18" name="card 6  AI override"/>
          <p:cNvSpPr/>
          <p:nvPr/>
        </p:nvSpPr>
        <p:spPr>
          <a:xfrm>
            <a:off x="6071616" y="29260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08776" y="303580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6  AI override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208776" y="3383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AI is ignored when invalid or when any hard limit trips.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Verilog modules</a:t>
            </a:r>
            <a:endParaRPr lang="en-US" sz="3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114800"/>
                <a:gridCol w="16459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Module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Checks passed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adc_interface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SPI frame reader, 12-bit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input_conditioning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Range and frame validity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force_lut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Fixed transfer function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safety_governor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Hard limits and AI override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pwm_generator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12.2 kHz PWM, instant kill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fault_handler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E-stop and sensor faults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ai_control_interface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AI result and heartbeat check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UART link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AI packets in, telemetry out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tactile_reflex_top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Full path integration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de2_115_top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Board wrapper: keys, LEDs, UART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18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Verification results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175 / 175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9659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directed checks pass across 12 testbenches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3931920" cy="1508760"/>
          </a:xfrm>
          <a:prstGeom prst="roundRect">
            <a:avLst>
              <a:gd name="adj" fmla="val 484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9718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2 x 1,800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3657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replayed vectors with zero safety violations</a:t>
            </a:r>
            <a:endParaRPr lang="en-US" sz="1400" dirty="0"/>
          </a:p>
        </p:txBody>
      </p:sp>
      <p:sp>
        <p:nvSpPr>
          <p:cNvPr id="9" name="card Cases covered"/>
          <p:cNvSpPr/>
          <p:nvPr/>
        </p:nvSpPr>
        <p:spPr>
          <a:xfrm>
            <a:off x="4572000" y="1188720"/>
            <a:ext cx="411480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709160" y="129844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Cases covered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754880" y="1691640"/>
            <a:ext cx="3749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No, light and normal contact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High and excessive force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AI class changes and AI failure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Emergency stop and sensor failure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Reset and LUT boundaries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PWM duty and instant kill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Predictive pre-limit vs model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Simulation console output</a:t>
            </a:r>
            <a:endParaRPr lang="en-US" sz="3600" dirty="0"/>
          </a:p>
        </p:txBody>
      </p:sp>
      <p:pic>
        <p:nvPicPr>
          <p:cNvPr id="3" name="Image 0" descr="Console output of run_all.sh showing all testbenches pass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3566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AI overridden by the Governor</a:t>
            </a:r>
            <a:endParaRPr lang="en-US" sz="3600" dirty="0"/>
          </a:p>
        </p:txBody>
      </p:sp>
      <p:pic>
        <p:nvPicPr>
          <p:cNvPr id="3" name="Image 0" descr="Waveform: force exceeds FORCE_MAX while AI class stays 2; safe_state rises and pwm_out fa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4937760" cy="3401568"/>
          </a:xfrm>
          <a:prstGeom prst="rect">
            <a:avLst/>
          </a:prstGeom>
        </p:spPr>
      </p:pic>
      <p:sp>
        <p:nvSpPr>
          <p:cNvPr id="4" name="card AI says class 2"/>
          <p:cNvSpPr/>
          <p:nvPr/>
        </p:nvSpPr>
        <p:spPr>
          <a:xfrm>
            <a:off x="5577840" y="1188720"/>
            <a:ext cx="31089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715000" y="12984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AI says class 2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715000" y="16459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Normal grip, valid, steady.</a:t>
            </a:r>
            <a:endParaRPr lang="en-US" sz="1400" dirty="0"/>
          </a:p>
        </p:txBody>
      </p:sp>
      <p:sp>
        <p:nvSpPr>
          <p:cNvPr id="7" name="card Force passes FORCE_MAX"/>
          <p:cNvSpPr/>
          <p:nvPr/>
        </p:nvSpPr>
        <p:spPr>
          <a:xfrm>
            <a:off x="5577840" y="2377440"/>
            <a:ext cx="3108960" cy="1051560"/>
          </a:xfrm>
          <a:prstGeom prst="roundRect">
            <a:avLst>
              <a:gd name="adj" fmla="val 69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715000" y="24871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Force passes FORCE_MAX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715000" y="28346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Governor trips the safe state.</a:t>
            </a:r>
            <a:endParaRPr lang="en-US" sz="1400" dirty="0"/>
          </a:p>
        </p:txBody>
      </p:sp>
      <p:sp>
        <p:nvSpPr>
          <p:cNvPr id="10" name="card PWM goes low"/>
          <p:cNvSpPr/>
          <p:nvPr/>
        </p:nvSpPr>
        <p:spPr>
          <a:xfrm>
            <a:off x="5577840" y="3566160"/>
            <a:ext cx="310896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715000" y="367588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PWM goes low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715000" y="40233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AI input ignored.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553712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RTL simulation, 50 MHz clock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Emergency stop response</a:t>
            </a:r>
            <a:endParaRPr lang="en-US" sz="3600" dirty="0"/>
          </a:p>
        </p:txBody>
      </p:sp>
      <p:pic>
        <p:nvPicPr>
          <p:cNvPr id="3" name="Image 0" descr="Waveform: e-stop asserted, safe_state rises and pwm_out falls within 5 clock cyc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4937760" cy="3401568"/>
          </a:xfrm>
          <a:prstGeom prst="rect">
            <a:avLst/>
          </a:prstGeom>
        </p:spPr>
      </p:pic>
      <p:sp>
        <p:nvSpPr>
          <p:cNvPr id="4" name="card E-stop asserted"/>
          <p:cNvSpPr/>
          <p:nvPr/>
        </p:nvSpPr>
        <p:spPr>
          <a:xfrm>
            <a:off x="5577840" y="1188720"/>
            <a:ext cx="31089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715000" y="12984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E-stop asserted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715000" y="16459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Input synchronised, then latched.</a:t>
            </a:r>
            <a:endParaRPr lang="en-US" sz="1400" dirty="0"/>
          </a:p>
        </p:txBody>
      </p:sp>
      <p:sp>
        <p:nvSpPr>
          <p:cNvPr id="7" name="card 5 clock cycles"/>
          <p:cNvSpPr/>
          <p:nvPr/>
        </p:nvSpPr>
        <p:spPr>
          <a:xfrm>
            <a:off x="5577840" y="2377440"/>
            <a:ext cx="3108960" cy="1051560"/>
          </a:xfrm>
          <a:prstGeom prst="roundRect">
            <a:avLst>
              <a:gd name="adj" fmla="val 69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715000" y="24871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5 clock cycles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715000" y="28346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From input edge to PWM low.</a:t>
            </a:r>
            <a:endParaRPr lang="en-US" sz="1400" dirty="0"/>
          </a:p>
        </p:txBody>
      </p:sp>
      <p:sp>
        <p:nvSpPr>
          <p:cNvPr id="10" name="card Latched"/>
          <p:cNvSpPr/>
          <p:nvPr/>
        </p:nvSpPr>
        <p:spPr>
          <a:xfrm>
            <a:off x="5577840" y="3566160"/>
            <a:ext cx="310896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715000" y="367588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Latched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715000" y="40233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Cleared only by operator.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553712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RTL simulation, 50 MHz clock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FPGA path latency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80 ns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96596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ADC sample to PWM low: 4 clock cycles at 50 MHz, jitter 0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1887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2801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100 ns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96596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E-stop input to PWM low: 5 clock cycles, jitter 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7889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8803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2.08 us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56616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ADC frame time: 104 cycles at 8.33 MHz SCLK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27889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28803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2.10 - 3.84 us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356616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Input change to PWM low; jitter 1.74 us from ADC frame phase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RTL simulation, 50 MHz clock, behavioural ADC model. T_FPGA is reported separately from T_ML.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Predictive pre-limit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858000" y="411480"/>
            <a:ext cx="1828800" cy="36576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0" y="411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SIMULATED DATA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2801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5.7 ms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96596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mean lead before FORCE_MAX on 25 of 25 crossing test episodes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63440" y="11887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00600" y="12801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6.5%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800600" y="196596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early trips on test episodes that never reach the limit (10 of 155)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83464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292608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 / 4,720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361188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mismatches between the RTL and the Python reference model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663440" y="283464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00600" y="292608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2168 vs 2568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361188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ADC value at trip on a fast ramp: predictive vs hard limit only (RTL)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force + 2 x (rise per 3 ms) &gt;= FORCE_MAX, with a 150-count noise guard. Parameters chosen on training episodes.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Lightweight AI/ML model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858000" y="411480"/>
            <a:ext cx="1828800" cy="36576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0" y="411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SIMULATED DATA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Decision tree: depth 4, 16 leaves (scikit-learn)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Six features: force, previous force, rate of change, moving average, contact duration, last delta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420 training and 180 test episodes, split by episode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Labels come from the scenario that generated each episode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188720"/>
          <a:ext cx="37490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Class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Meaning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 contact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Light contact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Normal grip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Excessive force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937760" y="36576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Output maps to control states sent to the FPGA.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AI/ML evaluation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858000" y="411480"/>
            <a:ext cx="1828800" cy="36576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0" y="411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SIMULATED DATA</a:t>
            </a:r>
            <a:endParaRPr lang="en-US" sz="1200" dirty="0"/>
          </a:p>
        </p:txBody>
      </p:sp>
      <p:pic>
        <p:nvPicPr>
          <p:cNvPr id="5" name="Image 0" descr="Confusion matrix on the simulated test s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3931920" cy="3328416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188720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463040"/>
                <a:gridCol w="14630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Class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Precision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Recall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0.995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0.985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0.819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0.937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0.804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0.859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0.941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0.719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4663440" y="3063240"/>
            <a:ext cx="19202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4800600" y="31546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91.9%</a:t>
            </a:r>
            <a:endParaRPr lang="en-US" sz="2800" dirty="0"/>
          </a:p>
        </p:txBody>
      </p:sp>
      <p:sp>
        <p:nvSpPr>
          <p:cNvPr id="9" name="Text 5"/>
          <p:cNvSpPr txBox="1"/>
          <p:nvPr/>
        </p:nvSpPr>
        <p:spPr>
          <a:xfrm>
            <a:off x="4800600" y="38404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accuracy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6766560" y="3063240"/>
            <a:ext cx="1920240" cy="1371600"/>
          </a:xfrm>
          <a:prstGeom prst="roundRect">
            <a:avLst>
              <a:gd name="adj" fmla="val 533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903720" y="31546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85.4%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6903720" y="38404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force-only baseline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AI inside the safety envelope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858000" y="411480"/>
            <a:ext cx="1828800" cy="36576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0" y="411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SIMULATED DATA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1737360"/>
          </a:xfrm>
          <a:prstGeom prst="roundRect">
            <a:avLst>
              <a:gd name="adj" fmla="val 421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2801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88 / 88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96596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over-limit samples forced to the safe state while the AI always claimed normal grip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63440" y="1188720"/>
            <a:ext cx="402336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00600" y="12801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6.6 us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800600" y="196596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median T_ML per decision (p99 22.9 us), measured on the development host</a:t>
            </a:r>
            <a:endParaRPr lang="en-US" sz="1400" dirty="0"/>
          </a:p>
        </p:txBody>
      </p:sp>
      <p:sp>
        <p:nvSpPr>
          <p:cNvPr id="11" name="card Separate numbers"/>
          <p:cNvSpPr/>
          <p:nvPr/>
        </p:nvSpPr>
        <p:spPr>
          <a:xfrm>
            <a:off x="457200" y="3108960"/>
            <a:ext cx="822960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321868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Separate numbers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3566160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T_FPGA and T_ML are never added together. The safety claim rests on the FPGA path alone; the AI path adds higher-level information.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SDG alignment</a:t>
            </a:r>
            <a:endParaRPr lang="en-US" sz="3600" dirty="0"/>
          </a:p>
        </p:txBody>
      </p:sp>
      <p:sp>
        <p:nvSpPr>
          <p:cNvPr id="3" name="card SDG 9  Industry, Innovation, Infrastructure"/>
          <p:cNvSpPr/>
          <p:nvPr/>
        </p:nvSpPr>
        <p:spPr>
          <a:xfrm>
            <a:off x="457200" y="1188720"/>
            <a:ext cx="4023360" cy="1417320"/>
          </a:xfrm>
          <a:prstGeom prst="roundRect">
            <a:avLst>
              <a:gd name="adj" fmla="val 516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SDG 9  Industry, Innovation, Infrastructure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6459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Targets 9.5, 9.b: reproducible FPGA + AI reference design.</a:t>
            </a:r>
            <a:endParaRPr lang="en-US" sz="1400" dirty="0"/>
          </a:p>
        </p:txBody>
      </p:sp>
      <p:sp>
        <p:nvSpPr>
          <p:cNvPr id="6" name="card SDG 8  Decent Work and Growth"/>
          <p:cNvSpPr/>
          <p:nvPr/>
        </p:nvSpPr>
        <p:spPr>
          <a:xfrm>
            <a:off x="4663440" y="1188720"/>
            <a:ext cx="4023360" cy="1417320"/>
          </a:xfrm>
          <a:prstGeom prst="roundRect">
            <a:avLst>
              <a:gd name="adj" fmla="val 516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SDG 8  Decent Work and Growth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6459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Targets 8.2, 8.8: hardware force limits for safer human-robot work.</a:t>
            </a:r>
            <a:endParaRPr lang="en-US" sz="1400" dirty="0"/>
          </a:p>
        </p:txBody>
      </p:sp>
      <p:sp>
        <p:nvSpPr>
          <p:cNvPr id="9" name="card SDG 3"/>
          <p:cNvSpPr/>
          <p:nvPr/>
        </p:nvSpPr>
        <p:spPr>
          <a:xfrm>
            <a:off x="457200" y="2788920"/>
            <a:ext cx="15544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89864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SDG 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246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Assistive and prosthetic grippers</a:t>
            </a:r>
            <a:endParaRPr lang="en-US" sz="1400" dirty="0"/>
          </a:p>
        </p:txBody>
      </p:sp>
      <p:sp>
        <p:nvSpPr>
          <p:cNvPr id="12" name="card SDG 12"/>
          <p:cNvSpPr/>
          <p:nvPr/>
        </p:nvSpPr>
        <p:spPr>
          <a:xfrm>
            <a:off x="2103120" y="2788920"/>
            <a:ext cx="15544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40280" y="289864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SDG 12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240280" y="3246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Less damage to fragile goods</a:t>
            </a:r>
            <a:endParaRPr lang="en-US" sz="1400" dirty="0"/>
          </a:p>
        </p:txBody>
      </p:sp>
      <p:sp>
        <p:nvSpPr>
          <p:cNvPr id="15" name="card SDG 2"/>
          <p:cNvSpPr/>
          <p:nvPr/>
        </p:nvSpPr>
        <p:spPr>
          <a:xfrm>
            <a:off x="3749040" y="2788920"/>
            <a:ext cx="15544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886200" y="289864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SDG 2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886200" y="3246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Gentle harvesting</a:t>
            </a:r>
            <a:endParaRPr lang="en-US" sz="1400" dirty="0"/>
          </a:p>
        </p:txBody>
      </p:sp>
      <p:sp>
        <p:nvSpPr>
          <p:cNvPr id="18" name="card SDG 4"/>
          <p:cNvSpPr/>
          <p:nvPr/>
        </p:nvSpPr>
        <p:spPr>
          <a:xfrm>
            <a:off x="5394960" y="2788920"/>
            <a:ext cx="15544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532120" y="289864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SDG 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532120" y="3246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Low-cost teaching platform</a:t>
            </a:r>
            <a:endParaRPr lang="en-US" sz="1400" dirty="0"/>
          </a:p>
        </p:txBody>
      </p:sp>
      <p:sp>
        <p:nvSpPr>
          <p:cNvPr id="21" name="card SDG 10"/>
          <p:cNvSpPr/>
          <p:nvPr/>
        </p:nvSpPr>
        <p:spPr>
          <a:xfrm>
            <a:off x="7040880" y="2788920"/>
            <a:ext cx="15544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78040" y="289864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SDG 10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3246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Affordable assistive devices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3891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An enabling technology; it does not claim to achieve the goals.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National and international uses</a:t>
            </a:r>
            <a:endParaRPr lang="en-US" sz="3600" dirty="0"/>
          </a:p>
        </p:txBody>
      </p:sp>
      <p:sp>
        <p:nvSpPr>
          <p:cNvPr id="3" name="card National"/>
          <p:cNvSpPr/>
          <p:nvPr/>
        </p:nvSpPr>
        <p:spPr>
          <a:xfrm>
            <a:off x="457200" y="1188720"/>
            <a:ext cx="4023360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National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91640"/>
            <a:ext cx="3657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Manufacturing and SME automation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Rehabilitation and assistive devices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Agriculture and food handling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Logistics and warehouses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Education and local R&amp;D</a:t>
            </a:r>
            <a:endParaRPr lang="en-US" sz="1400" dirty="0"/>
          </a:p>
        </p:txBody>
      </p:sp>
      <p:sp>
        <p:nvSpPr>
          <p:cNvPr id="6" name="card International"/>
          <p:cNvSpPr/>
          <p:nvPr/>
        </p:nvSpPr>
        <p:spPr>
          <a:xfrm>
            <a:off x="4663440" y="1188720"/>
            <a:ext cx="4023360" cy="2834640"/>
          </a:xfrm>
          <a:prstGeom prst="roundRect">
            <a:avLst>
              <a:gd name="adj" fmla="val 258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International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691640"/>
            <a:ext cx="3657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Collaborative robotics (ISO 10218, ISO/TS 15066 as references)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Low-resource assistive devices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Hazardous remote handling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Global teaching and shared benchmarks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Distinctive technical features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1887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Tactile sensing with AI/ML-assisted interpretation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2801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6344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03520" y="11887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Fixed-function FPGA tactile-to-actuation transfer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1945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Independent hardware Safety Governor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2286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6344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303520" y="21945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software control loop in the reflex path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2918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32004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Deterministic, bounded hardware response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63440" y="32918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6344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303520" y="32004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AI result checked against hard limits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3891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Technical description only; no legal or patentability conclusion.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Key findings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88 / 88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96596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over-limit samples forced safe, even with an AI that always said normal grip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1887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2801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4 cycles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96596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from ADC sample to PWM low, jitter 0; end-to-end time is set by the ADC frame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402336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92608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91.9% vs 85.4%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61188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tree with dynamic features vs force-only baseline (simulated data)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2834640"/>
            <a:ext cx="4023360" cy="1554480"/>
          </a:xfrm>
          <a:prstGeom prst="roundRect">
            <a:avLst>
              <a:gd name="adj" fmla="val 4706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292608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6.6 us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361188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median AI decision time; class 3 recall is 72%, so the hardware limit stays authoritative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8872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Conclusion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A deterministic FPGA reflex path enforces the hard limits.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The AI path adds contact classification and can only lower the command.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175 directed checks and 3,600 replayed vectors confirm the override behaviour in simulation.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actile Reflex">
  <a:themeElements>
    <a:clrScheme name="Tactile Reflex">
      <a:dk1>
        <a:srgbClr val="1B2430"/>
      </a:dk1>
      <a:lt1>
        <a:srgbClr val="FFFFFF"/>
      </a:lt1>
      <a:dk2>
        <a:srgbClr val="0F3D3E"/>
      </a:dk2>
      <a:lt2>
        <a:srgbClr val="EAF1F1"/>
      </a:lt2>
      <a:accent1>
        <a:srgbClr val="0E7C7B"/>
      </a:accent1>
      <a:accent2>
        <a:srgbClr val="F2A900"/>
      </a:accent2>
      <a:accent3>
        <a:srgbClr val="C8404F"/>
      </a:accent3>
      <a:accent4>
        <a:srgbClr val="3D5A80"/>
      </a:accent4>
      <a:accent5>
        <a:srgbClr val="5F7380"/>
      </a:accent5>
      <a:accent6>
        <a:srgbClr val="2E9E6B"/>
      </a:accent6>
      <a:hlink>
        <a:srgbClr val="0E7C7B"/>
      </a:hlink>
      <a:folHlink>
        <a:srgbClr val="5F7380"/>
      </a:folHlink>
    </a:clrScheme>
    <a:fontScheme name="Tactile Reflex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Latency-Optimal Tactile Reflex System</dc:title>
  <dc:subject>PptxGenJS Presentation</dc:subject>
  <dc:creator>PptxGenJS</dc:creator>
  <cp:lastModifiedBy>PptxGenJS</cp:lastModifiedBy>
  <cp:revision>1</cp:revision>
  <dcterms:created xsi:type="dcterms:W3CDTF">2026-10-24T06:46:40Z</dcterms:created>
  <dcterms:modified xsi:type="dcterms:W3CDTF">2026-10-24T06:46:40Z</dcterms:modified>
</cp:coreProperties>
</file>