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786384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8872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Latency-Optimal Tactile Reflex System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AI-assisted, deterministic FPGA-based tactile controller for robotic gripper actuation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Academic prototype  |  PYNQ-Z2 (Zynq-7000)  |  PS: AI/ML    PL: reflex and safety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AI advises, FPGA protects</a:t>
            </a:r>
            <a:endParaRPr lang="en-US" sz="3600" dirty="0"/>
          </a:p>
        </p:txBody>
      </p:sp>
      <p:sp>
        <p:nvSpPr>
          <p:cNvPr id="3" name="card AI/ML path: advisory"/>
          <p:cNvSpPr/>
          <p:nvPr/>
        </p:nvSpPr>
        <p:spPr>
          <a:xfrm>
            <a:off x="457200" y="1188720"/>
            <a:ext cx="2606040" cy="27432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AI/ML path: advisory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459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Classifies contact, grip condition and force category. Predicts excessive force. Runs on the processor (PS) in milliseconds. May be wrong or absent.</a:t>
            </a:r>
            <a:endParaRPr lang="en-US" sz="1600" dirty="0"/>
          </a:p>
        </p:txBody>
      </p:sp>
      <p:sp>
        <p:nvSpPr>
          <p:cNvPr id="6" name="card FPGA path: authoritative"/>
          <p:cNvSpPr/>
          <p:nvPr/>
        </p:nvSpPr>
        <p:spPr>
          <a:xfrm>
            <a:off x="3268980" y="1188720"/>
            <a:ext cx="2606040" cy="2743200"/>
          </a:xfrm>
          <a:prstGeom prst="roundRect">
            <a:avLst>
              <a:gd name="adj" fmla="val 280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0614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FPGA path: authoritative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06140" y="16459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ADC, fixed-function LUT, Safety Governor, PWM. No CPU and no software loop in the critical reflex path. Bounded, measurable latency.</a:t>
            </a:r>
            <a:endParaRPr lang="en-US" sz="1600" dirty="0"/>
          </a:p>
        </p:txBody>
      </p:sp>
      <p:sp>
        <p:nvSpPr>
          <p:cNvPr id="9" name="card The rule"/>
          <p:cNvSpPr/>
          <p:nvPr/>
        </p:nvSpPr>
        <p:spPr>
          <a:xfrm>
            <a:off x="6080760" y="1188720"/>
            <a:ext cx="2606040" cy="2743200"/>
          </a:xfrm>
          <a:prstGeom prst="roundRect">
            <a:avLst>
              <a:gd name="adj" fmla="val 280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The rule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6459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If hard limits are violated, the Governor overrides the AI result and enters the safe state. AI "normal grip" with force above FORCE_MAX still means safe state.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PL (FPGA fabric): safety-critical reflex path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1005840" cy="731520"/>
          </a:xfrm>
          <a:prstGeom prst="roundRect">
            <a:avLst>
              <a:gd name="adj" fmla="val 7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14630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FSR + ADC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463040"/>
            <a:ext cx="1188720" cy="73152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91640" y="14630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Fixed LUT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108960" y="1463040"/>
            <a:ext cx="1371600" cy="731520"/>
          </a:xfrm>
          <a:prstGeom prst="roundRect">
            <a:avLst>
              <a:gd name="adj" fmla="val 75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54680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Safety Governor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1005840" cy="73152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14630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PWM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1188720" cy="731520"/>
          </a:xfrm>
          <a:prstGeom prst="roundRect">
            <a:avLst>
              <a:gd name="adj" fmla="val 7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80760" y="14630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Motor driver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498080" y="1463040"/>
            <a:ext cx="1188720" cy="731520"/>
          </a:xfrm>
          <a:prstGeom prst="roundRect">
            <a:avLst>
              <a:gd name="adj" fmla="val 7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43800" y="14630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Motor + gripper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37160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83464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48056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76072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223760" y="1828800"/>
            <a:ext cx="27432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65760" y="3200400"/>
            <a:ext cx="1005840" cy="731520"/>
          </a:xfrm>
          <a:prstGeom prst="roundRect">
            <a:avLst>
              <a:gd name="adj" fmla="val 75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1480" y="32004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Features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743200" y="3200400"/>
            <a:ext cx="1737360" cy="731520"/>
          </a:xfrm>
          <a:prstGeom prst="roundRect">
            <a:avLst>
              <a:gd name="adj" fmla="val 75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788920" y="32004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Decision tree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68680" y="2194560"/>
            <a:ext cx="0" cy="100584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371600" y="3566160"/>
            <a:ext cx="1371600" cy="0"/>
          </a:xfrm>
          <a:prstGeom prst="line">
            <a:avLst/>
          </a:prstGeom>
          <a:noFill/>
          <a:ln w="2222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3794760" y="2194560"/>
            <a:ext cx="0" cy="100584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3931920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advisory class + heartbeat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365760" y="4023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PS (processor): AI/ML, logging, visualization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754880" y="32918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Hard limits are checked first; AI advice second.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Safety Governor rules</a:t>
            </a:r>
            <a:endParaRPr lang="en-US" sz="3600" dirty="0"/>
          </a:p>
        </p:txBody>
      </p:sp>
      <p:sp>
        <p:nvSpPr>
          <p:cNvPr id="3" name="card 1  Maximum force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  Maximum force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4592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Force above FORCE_MAX trips the safe state.</a:t>
            </a:r>
            <a:endParaRPr lang="en-US" sz="1400" dirty="0"/>
          </a:p>
        </p:txBody>
      </p:sp>
      <p:sp>
        <p:nvSpPr>
          <p:cNvPr id="6" name="card 2  Sensor fault"/>
          <p:cNvSpPr/>
          <p:nvPr/>
        </p:nvSpPr>
        <p:spPr>
          <a:xfrm>
            <a:off x="3264408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01568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  Sensor fault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01568" y="164592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or shorted FSR path is treated as a fault.</a:t>
            </a:r>
            <a:endParaRPr lang="en-US" sz="1400" dirty="0"/>
          </a:p>
        </p:txBody>
      </p:sp>
      <p:sp>
        <p:nvSpPr>
          <p:cNvPr id="9" name="card 3  Emergency stop"/>
          <p:cNvSpPr/>
          <p:nvPr/>
        </p:nvSpPr>
        <p:spPr>
          <a:xfrm>
            <a:off x="6071616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12984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  Emergency stop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08776" y="164592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Hardware E-stop input forces the safe state.</a:t>
            </a:r>
            <a:endParaRPr lang="en-US" sz="1400" dirty="0"/>
          </a:p>
        </p:txBody>
      </p:sp>
      <p:sp>
        <p:nvSpPr>
          <p:cNvPr id="12" name="card 4  Invalid ADC value"/>
          <p:cNvSpPr/>
          <p:nvPr/>
        </p:nvSpPr>
        <p:spPr>
          <a:xfrm>
            <a:off x="457200" y="283464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94436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  Invalid ADC value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2918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Out-of-range or stuck readings are rejected.</a:t>
            </a:r>
            <a:endParaRPr lang="en-US" sz="1400" dirty="0"/>
          </a:p>
        </p:txBody>
      </p:sp>
      <p:sp>
        <p:nvSpPr>
          <p:cNvPr id="15" name="card 5  Safe output state"/>
          <p:cNvSpPr/>
          <p:nvPr/>
        </p:nvSpPr>
        <p:spPr>
          <a:xfrm>
            <a:off x="3264408" y="283464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01568" y="294436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  Safe output state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401568" y="32918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PWM forced off, immediately, not at the next period.</a:t>
            </a:r>
            <a:endParaRPr lang="en-US" sz="1400" dirty="0"/>
          </a:p>
        </p:txBody>
      </p:sp>
      <p:sp>
        <p:nvSpPr>
          <p:cNvPr id="18" name="card 6  AI override"/>
          <p:cNvSpPr/>
          <p:nvPr/>
        </p:nvSpPr>
        <p:spPr>
          <a:xfrm>
            <a:off x="6071616" y="283464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08776" y="294436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6  AI override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208776" y="32918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result is ignored when any hard limit is violated.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FPGA modules and PS/PL split</a:t>
            </a:r>
            <a:endParaRPr lang="en-US" sz="3600" dirty="0"/>
          </a:p>
        </p:txBody>
      </p:sp>
      <p:sp>
        <p:nvSpPr>
          <p:cNvPr id="3" name="card PL: synthesizable Verilog"/>
          <p:cNvSpPr/>
          <p:nvPr/>
        </p:nvSpPr>
        <p:spPr>
          <a:xfrm>
            <a:off x="457200" y="1188720"/>
            <a:ext cx="475488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PL: synthesizable Verilog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4389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adc_interface: SPI to the Pmod AD1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input_conditioning: filter and range check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force_lut: fixed-function transfer function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safety_governor: hard limits and override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pwm_generator and fault_handler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ai_control_interface: AI class, valid, timeout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tactile_reflex_top: integration</a:t>
            </a:r>
            <a:endParaRPr lang="en-US" sz="1400" dirty="0"/>
          </a:p>
        </p:txBody>
      </p:sp>
      <p:sp>
        <p:nvSpPr>
          <p:cNvPr id="6" name="card PS: Python on PYNQ"/>
          <p:cNvSpPr/>
          <p:nvPr/>
        </p:nvSpPr>
        <p:spPr>
          <a:xfrm>
            <a:off x="5394960" y="1188720"/>
            <a:ext cx="3291840" cy="2834640"/>
          </a:xfrm>
          <a:prstGeom prst="roundRect">
            <a:avLst>
              <a:gd name="adj" fmla="val 258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532120" y="12984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PS: Python on PYNQ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1691640"/>
            <a:ext cx="2926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Feature extraction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AI/ML inference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Logging and plots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Writes class and heartbeat over AXI GPIO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Lightweight AI/ML model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Decision tree, depth 4 or less (scikit-learn)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Features: force estimate, rate of change, moving average, contact duration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Development data is SIMULATED and labelled so; replaced by real FSR recordings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Report accuracy, precision and recall, confusion matrix, inference time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188720"/>
          <a:ext cx="37490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Class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Meaning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 contact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Light contact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Normal grip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Excessive force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937760" y="36576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Output maps to a few control states sent to the PL.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Latency measurement plan</a:t>
            </a:r>
            <a:endParaRPr lang="en-US" sz="3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840480"/>
                <a:gridCol w="20116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Stage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Instrument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Result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ADC latency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Logic analyzer, CS to data valid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To be measured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FPGA logic latency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Scope, ADC valid to governor out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To be measured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PWM generation latency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Scope, command to PWM edge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To be measured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Motor-driver latency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Scope, PWM in to driver out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To be measured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Physical motor response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Scope, stimulus to motor change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To be measured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AI/ML inference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perf_counter_ns on the PS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To be measured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T_FPGA = hardware input-to-output    T_ML = inference time    T_physical = sensor-to-motor response    T_jitter = T_max - T_min.  Never summed; the headline claim is T_FPGA only.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Hardware list</a:t>
            </a:r>
            <a:endParaRPr lang="en-US" sz="3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035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Item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Model / spec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FPGA/SoC board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TUL PYNQ-Z2 (Zynq XC7Z020), 16 GB microSD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ADC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Digilent Pmod AD1 (AD7476A, 12-bit SPI)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Force sensor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Interlink FSR 402 x2, 10 kOhm divider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Motor driver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DRV8871 breakout x2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Motor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 V geared DC, stall under 2 A (e.g. JGA25-370)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Power and protection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 V 3 A supply, 1000 uF cap, 2 A fuse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Safety hardware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NC E-stop, two end-stop microswitches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Test gear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Scope, logic analyzer, function generator, masses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Four-week plan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card Week 1"/>
          <p:cNvSpPr/>
          <p:nvPr/>
        </p:nvSpPr>
        <p:spPr>
          <a:xfrm>
            <a:off x="457200" y="1828800"/>
            <a:ext cx="19202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93852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Week 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28600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Order parts. Tools. PWM, LUT, Governor. Simulate.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42032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42032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card Week 2"/>
          <p:cNvSpPr/>
          <p:nvPr/>
        </p:nvSpPr>
        <p:spPr>
          <a:xfrm>
            <a:off x="2542032" y="1828800"/>
            <a:ext cx="19202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79192" y="193852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Week 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679192" y="228600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FSR + ADC. Calibrate. Record data. Train and evaluate.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26864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26864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card Week 3"/>
          <p:cNvSpPr/>
          <p:nvPr/>
        </p:nvSpPr>
        <p:spPr>
          <a:xfrm>
            <a:off x="4626864" y="1828800"/>
            <a:ext cx="19202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64024" y="193852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Week 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764024" y="228600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PS-PL link. Motor and gripper. Safety override on hardware.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711696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11696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card Week 4"/>
          <p:cNvSpPr/>
          <p:nvPr/>
        </p:nvSpPr>
        <p:spPr>
          <a:xfrm>
            <a:off x="6711696" y="1828800"/>
            <a:ext cx="1920240" cy="1920240"/>
          </a:xfrm>
          <a:prstGeom prst="roundRect">
            <a:avLst>
              <a:gd name="adj" fmla="val 381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48856" y="193852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Week 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848856" y="228600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Latency, jitter, repeats. Waveforms. Compare. Write up.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Results to collect</a:t>
            </a:r>
            <a:endParaRPr lang="en-US" sz="3600" dirty="0"/>
          </a:p>
        </p:txBody>
      </p:sp>
      <p:sp>
        <p:nvSpPr>
          <p:cNvPr id="3" name="card Sensor calibration"/>
          <p:cNvSpPr/>
          <p:nvPr/>
        </p:nvSpPr>
        <p:spPr>
          <a:xfrm>
            <a:off x="457200" y="1188720"/>
            <a:ext cx="192024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Sensor calibration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459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To be measured</a:t>
            </a:r>
            <a:endParaRPr lang="en-US" sz="1400" dirty="0"/>
          </a:p>
        </p:txBody>
      </p:sp>
      <p:sp>
        <p:nvSpPr>
          <p:cNvPr id="6" name="card AI/ML accuracy"/>
          <p:cNvSpPr/>
          <p:nvPr/>
        </p:nvSpPr>
        <p:spPr>
          <a:xfrm>
            <a:off x="2542032" y="1188720"/>
            <a:ext cx="192024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79192" y="12984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AI/ML accuracy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79192" y="16459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To be measured</a:t>
            </a:r>
            <a:endParaRPr lang="en-US" sz="1400" dirty="0"/>
          </a:p>
        </p:txBody>
      </p:sp>
      <p:sp>
        <p:nvSpPr>
          <p:cNvPr id="9" name="card FPGA latency"/>
          <p:cNvSpPr/>
          <p:nvPr/>
        </p:nvSpPr>
        <p:spPr>
          <a:xfrm>
            <a:off x="4626864" y="1188720"/>
            <a:ext cx="192024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64024" y="12984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FPGA latency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764024" y="16459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To be measured</a:t>
            </a:r>
            <a:endParaRPr lang="en-US" sz="1400" dirty="0"/>
          </a:p>
        </p:txBody>
      </p:sp>
      <p:sp>
        <p:nvSpPr>
          <p:cNvPr id="12" name="card AI inference latency"/>
          <p:cNvSpPr/>
          <p:nvPr/>
        </p:nvSpPr>
        <p:spPr>
          <a:xfrm>
            <a:off x="6711696" y="1188720"/>
            <a:ext cx="192024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48856" y="12984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AI inference latency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848856" y="16459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To be measured</a:t>
            </a:r>
            <a:endParaRPr lang="en-US" sz="1400" dirty="0"/>
          </a:p>
        </p:txBody>
      </p:sp>
      <p:sp>
        <p:nvSpPr>
          <p:cNvPr id="15" name="card End-to-end response"/>
          <p:cNvSpPr/>
          <p:nvPr/>
        </p:nvSpPr>
        <p:spPr>
          <a:xfrm>
            <a:off x="457200" y="2606040"/>
            <a:ext cx="192024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71576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End-to-end response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30632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To be measured</a:t>
            </a:r>
            <a:endParaRPr lang="en-US" sz="1400" dirty="0"/>
          </a:p>
        </p:txBody>
      </p:sp>
      <p:sp>
        <p:nvSpPr>
          <p:cNvPr id="18" name="card Latency jitter"/>
          <p:cNvSpPr/>
          <p:nvPr/>
        </p:nvSpPr>
        <p:spPr>
          <a:xfrm>
            <a:off x="2542032" y="2606040"/>
            <a:ext cx="192024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79192" y="271576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Latency jitter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79192" y="30632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To be measured</a:t>
            </a:r>
            <a:endParaRPr lang="en-US" sz="1400" dirty="0"/>
          </a:p>
        </p:txBody>
      </p:sp>
      <p:sp>
        <p:nvSpPr>
          <p:cNvPr id="21" name="card Safety response"/>
          <p:cNvSpPr/>
          <p:nvPr/>
        </p:nvSpPr>
        <p:spPr>
          <a:xfrm>
            <a:off x="4626864" y="2606040"/>
            <a:ext cx="192024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64024" y="271576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Safety response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764024" y="30632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To be measured</a:t>
            </a:r>
            <a:endParaRPr lang="en-US" sz="1400" dirty="0"/>
          </a:p>
        </p:txBody>
      </p:sp>
      <p:sp>
        <p:nvSpPr>
          <p:cNvPr id="24" name="card Repeated tests"/>
          <p:cNvSpPr/>
          <p:nvPr/>
        </p:nvSpPr>
        <p:spPr>
          <a:xfrm>
            <a:off x="6711696" y="2606040"/>
            <a:ext cx="192024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48856" y="271576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Repeated tests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848856" y="30632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To be measured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Empty until measured. Simulated data is always labelled as simulated.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SDG alignment</a:t>
            </a:r>
            <a:endParaRPr lang="en-US" sz="3600" dirty="0"/>
          </a:p>
        </p:txBody>
      </p:sp>
      <p:sp>
        <p:nvSpPr>
          <p:cNvPr id="3" name="card SDG 9  Industry, Innovation, Infrastructure"/>
          <p:cNvSpPr/>
          <p:nvPr/>
        </p:nvSpPr>
        <p:spPr>
          <a:xfrm>
            <a:off x="457200" y="118872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SDG 9  Industry, Innovation, Infrastructure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Targets 9.5, 9.b: reproducible FPGA + AI reference design.</a:t>
            </a:r>
            <a:endParaRPr lang="en-US" sz="1400" dirty="0"/>
          </a:p>
        </p:txBody>
      </p:sp>
      <p:sp>
        <p:nvSpPr>
          <p:cNvPr id="6" name="card SDG 8  Decent Work and Growth"/>
          <p:cNvSpPr/>
          <p:nvPr/>
        </p:nvSpPr>
        <p:spPr>
          <a:xfrm>
            <a:off x="4663440" y="118872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SDG 8  Decent Work and Growth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Targets 8.2, 8.8: hardware force limits for safer human-robot work.</a:t>
            </a:r>
            <a:endParaRPr lang="en-US" sz="1400" dirty="0"/>
          </a:p>
        </p:txBody>
      </p:sp>
      <p:sp>
        <p:nvSpPr>
          <p:cNvPr id="9" name="card SDG 3"/>
          <p:cNvSpPr/>
          <p:nvPr/>
        </p:nvSpPr>
        <p:spPr>
          <a:xfrm>
            <a:off x="45720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Assistive and prosthetic grippers</a:t>
            </a:r>
            <a:endParaRPr lang="en-US" sz="1400" dirty="0"/>
          </a:p>
        </p:txBody>
      </p:sp>
      <p:sp>
        <p:nvSpPr>
          <p:cNvPr id="12" name="card SDG 12"/>
          <p:cNvSpPr/>
          <p:nvPr/>
        </p:nvSpPr>
        <p:spPr>
          <a:xfrm>
            <a:off x="210312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4028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12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Less damage to fragile goods</a:t>
            </a:r>
            <a:endParaRPr lang="en-US" sz="1400" dirty="0"/>
          </a:p>
        </p:txBody>
      </p:sp>
      <p:sp>
        <p:nvSpPr>
          <p:cNvPr id="15" name="card SDG 2"/>
          <p:cNvSpPr/>
          <p:nvPr/>
        </p:nvSpPr>
        <p:spPr>
          <a:xfrm>
            <a:off x="374904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8620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88620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Gentle harvesting</a:t>
            </a:r>
            <a:endParaRPr lang="en-US" sz="1400" dirty="0"/>
          </a:p>
        </p:txBody>
      </p:sp>
      <p:sp>
        <p:nvSpPr>
          <p:cNvPr id="18" name="card SDG 4"/>
          <p:cNvSpPr/>
          <p:nvPr/>
        </p:nvSpPr>
        <p:spPr>
          <a:xfrm>
            <a:off x="539496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3212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53212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Low-cost teaching platform</a:t>
            </a:r>
            <a:endParaRPr lang="en-US" sz="1400" dirty="0"/>
          </a:p>
        </p:txBody>
      </p:sp>
      <p:sp>
        <p:nvSpPr>
          <p:cNvPr id="21" name="card SDG 10"/>
          <p:cNvSpPr/>
          <p:nvPr/>
        </p:nvSpPr>
        <p:spPr>
          <a:xfrm>
            <a:off x="7040880" y="2788920"/>
            <a:ext cx="15544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8040" y="28986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SDG 10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324612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Affordable assistive devices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389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 enabling technology; it does not claim to achieve the goals.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National and international uses</a:t>
            </a:r>
            <a:endParaRPr lang="en-US" sz="3600" dirty="0"/>
          </a:p>
        </p:txBody>
      </p:sp>
      <p:sp>
        <p:nvSpPr>
          <p:cNvPr id="3" name="card National"/>
          <p:cNvSpPr/>
          <p:nvPr/>
        </p:nvSpPr>
        <p:spPr>
          <a:xfrm>
            <a:off x="457200" y="1188720"/>
            <a:ext cx="402336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National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Manufacturing and SME automation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Rehabilitation and assistive devices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Agriculture and food handling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Logistics and warehouses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Education and local R&amp;D</a:t>
            </a:r>
            <a:endParaRPr lang="en-US" sz="1400" dirty="0"/>
          </a:p>
        </p:txBody>
      </p:sp>
      <p:sp>
        <p:nvSpPr>
          <p:cNvPr id="6" name="card International"/>
          <p:cNvSpPr/>
          <p:nvPr/>
        </p:nvSpPr>
        <p:spPr>
          <a:xfrm>
            <a:off x="4663440" y="1188720"/>
            <a:ext cx="4023360" cy="2834640"/>
          </a:xfrm>
          <a:prstGeom prst="roundRect">
            <a:avLst>
              <a:gd name="adj" fmla="val 258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International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69164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Collaborative robotics (ISO 10218, ISO/TS 15066 as references)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Low-resource assistive devices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Hazardous remote handling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Global teaching and shared benchmarks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Distinctive technical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188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Tactile sensing with AI/ML-assisted interpretation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634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03520" y="11887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Fixed-function FPGA tactile-to-actuation transfer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194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Independent hardware Safety Governor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2286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03520" y="2194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software control loop in the reflex path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200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Deterministic, bounded hardware response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32918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634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303520" y="3200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result checked against hard limits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389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Technical description only; no legal or patentability conclusion.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Limits and next steps</a:t>
            </a:r>
            <a:endParaRPr lang="en-US" sz="3600" dirty="0"/>
          </a:p>
        </p:txBody>
      </p:sp>
      <p:sp>
        <p:nvSpPr>
          <p:cNvPr id="3" name="card Limits"/>
          <p:cNvSpPr/>
          <p:nvPr/>
        </p:nvSpPr>
        <p:spPr>
          <a:xfrm>
            <a:off x="457200" y="1188720"/>
            <a:ext cx="402336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Limits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Prototype; not a certified safety or medical device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FSR gives calibrated estimates, not exact force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Determinism claimed for the FPGA path only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standards compliance claimed</a:t>
            </a:r>
            <a:endParaRPr lang="en-US" sz="1400" dirty="0"/>
          </a:p>
        </p:txBody>
      </p:sp>
      <p:sp>
        <p:nvSpPr>
          <p:cNvPr id="6" name="card Next steps"/>
          <p:cNvSpPr/>
          <p:nvPr/>
        </p:nvSpPr>
        <p:spPr>
          <a:xfrm>
            <a:off x="4663440" y="1188720"/>
            <a:ext cx="4023360" cy="2834640"/>
          </a:xfrm>
          <a:prstGeom prst="roundRect">
            <a:avLst>
              <a:gd name="adj" fmla="val 258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Next steps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69164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Confirm board, motor and gripper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Order parts; install Vivado and iverilog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Simulate PWM, LUT and Governor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Collect real FSR data in week 2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actile Reflex">
  <a:themeElements>
    <a:clrScheme name="Tactile Reflex">
      <a:dk1>
        <a:srgbClr val="1B2430"/>
      </a:dk1>
      <a:lt1>
        <a:srgbClr val="FFFFFF"/>
      </a:lt1>
      <a:dk2>
        <a:srgbClr val="0F3D3E"/>
      </a:dk2>
      <a:lt2>
        <a:srgbClr val="EAF1F1"/>
      </a:lt2>
      <a:accent1>
        <a:srgbClr val="0E7C7B"/>
      </a:accent1>
      <a:accent2>
        <a:srgbClr val="F2A900"/>
      </a:accent2>
      <a:accent3>
        <a:srgbClr val="C8404F"/>
      </a:accent3>
      <a:accent4>
        <a:srgbClr val="3D5A80"/>
      </a:accent4>
      <a:accent5>
        <a:srgbClr val="5F7380"/>
      </a:accent5>
      <a:accent6>
        <a:srgbClr val="2E9E6B"/>
      </a:accent6>
      <a:hlink>
        <a:srgbClr val="0E7C7B"/>
      </a:hlink>
      <a:folHlink>
        <a:srgbClr val="5F7380"/>
      </a:folHlink>
    </a:clrScheme>
    <a:fontScheme name="Tactile Reflex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Latency-Optimal Tactile Reflex System</dc:title>
  <dc:subject>PptxGenJS Presentation</dc:subject>
  <dc:creator>PptxGenJS</dc:creator>
  <cp:lastModifiedBy>PptxGenJS</cp:lastModifiedBy>
  <cp:revision>1</cp:revision>
  <dcterms:created xsi:type="dcterms:W3CDTF">2026-10-24T05:58:31Z</dcterms:created>
  <dcterms:modified xsi:type="dcterms:W3CDTF">2026-10-24T05:58:31Z</dcterms:modified>
</cp:coreProperties>
</file>