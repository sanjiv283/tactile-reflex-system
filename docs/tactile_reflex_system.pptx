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78638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Latency-Optimal Tactile Reflex System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AI-assisted, deterministic FPGA-based tactile controller for robotic gripper actuation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Verilog design, verification and AI/ML evaluation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 advises, FPGA protects</a:t>
            </a:r>
            <a:endParaRPr lang="en-US" sz="3600" dirty="0"/>
          </a:p>
        </p:txBody>
      </p:sp>
      <p:sp>
        <p:nvSpPr>
          <p:cNvPr id="3" name="card AI/ML path: advisory"/>
          <p:cNvSpPr/>
          <p:nvPr/>
        </p:nvSpPr>
        <p:spPr>
          <a:xfrm>
            <a:off x="457200" y="118872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AI/ML path: advisory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Classifies contact, grip condition and force category. Predicts excessive force. Runs on the processor in microseconds to milliseconds. May be wrong or absent.</a:t>
            </a:r>
            <a:endParaRPr lang="en-US" sz="1600" dirty="0"/>
          </a:p>
        </p:txBody>
      </p:sp>
      <p:sp>
        <p:nvSpPr>
          <p:cNvPr id="6" name="card FPGA path: authoritative"/>
          <p:cNvSpPr/>
          <p:nvPr/>
        </p:nvSpPr>
        <p:spPr>
          <a:xfrm>
            <a:off x="3268980" y="118872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0614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FPGA path: authoritative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06140" y="16459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ADC, fixed-function LUT, Safety Governor, PWM. No CPU and no software loop in the critical reflex path. Bounded, measurable latency.</a:t>
            </a:r>
            <a:endParaRPr lang="en-US" sz="1600" dirty="0"/>
          </a:p>
        </p:txBody>
      </p:sp>
      <p:sp>
        <p:nvSpPr>
          <p:cNvPr id="9" name="card The rule"/>
          <p:cNvSpPr/>
          <p:nvPr/>
        </p:nvSpPr>
        <p:spPr>
          <a:xfrm>
            <a:off x="6080760" y="118872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rule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6459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If a hard limit is violated, the Governor overrides the AI result and enters the safe state. The AI can only lower the command, never raise 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PL (FPGA fabric): safety-critical reflex path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100584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1463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Sensor + ADC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46304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9164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Fixed LUT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108960" y="1463040"/>
            <a:ext cx="1371600" cy="731520"/>
          </a:xfrm>
          <a:prstGeom prst="roundRect">
            <a:avLst>
              <a:gd name="adj" fmla="val 7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54680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Safety Governor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1005840" cy="73152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1463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PWM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8076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Driver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498080" y="146304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4380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Actuator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37160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83464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48056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76072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22376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65760" y="3200400"/>
            <a:ext cx="1005840" cy="731520"/>
          </a:xfrm>
          <a:prstGeom prst="roundRect">
            <a:avLst>
              <a:gd name="adj" fmla="val 75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1480" y="32004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Features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743200" y="3200400"/>
            <a:ext cx="1737360" cy="731520"/>
          </a:xfrm>
          <a:prstGeom prst="roundRect">
            <a:avLst>
              <a:gd name="adj" fmla="val 75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788920" y="32004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Decision tree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68680" y="2194560"/>
            <a:ext cx="0" cy="100584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371600" y="3566160"/>
            <a:ext cx="137160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3794760" y="2194560"/>
            <a:ext cx="0" cy="100584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393192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advisory class + heartbeat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4023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PS (processor): AI/ML, logging, visualization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754880" y="3291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Hard limits are checked first; AI advice second.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Safety Governor rules</a:t>
            </a:r>
            <a:endParaRPr lang="en-US" sz="3600" dirty="0"/>
          </a:p>
        </p:txBody>
      </p:sp>
      <p:sp>
        <p:nvSpPr>
          <p:cNvPr id="3" name="card 1  Maximum force"/>
          <p:cNvSpPr/>
          <p:nvPr/>
        </p:nvSpPr>
        <p:spPr>
          <a:xfrm>
            <a:off x="457200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  Maximum force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Force at or above FORCE_MAX trips the safe state, with release hysteresis.</a:t>
            </a:r>
            <a:endParaRPr lang="en-US" sz="1400" dirty="0"/>
          </a:p>
        </p:txBody>
      </p:sp>
      <p:sp>
        <p:nvSpPr>
          <p:cNvPr id="6" name="card 2  Sensor fault"/>
          <p:cNvSpPr/>
          <p:nvPr/>
        </p:nvSpPr>
        <p:spPr>
          <a:xfrm>
            <a:off x="3264408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01568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  Sensor fault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01568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Persistent invalid readings or a silent ADC latch a fault.</a:t>
            </a:r>
            <a:endParaRPr lang="en-US" sz="1400" dirty="0"/>
          </a:p>
        </p:txBody>
      </p:sp>
      <p:sp>
        <p:nvSpPr>
          <p:cNvPr id="9" name="card 3  Emergency stop"/>
          <p:cNvSpPr/>
          <p:nvPr/>
        </p:nvSpPr>
        <p:spPr>
          <a:xfrm>
            <a:off x="6071616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  Emergency stop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08776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Fail-safe input: an open contact or cut wire stops the output.</a:t>
            </a:r>
            <a:endParaRPr lang="en-US" sz="1400" dirty="0"/>
          </a:p>
        </p:txBody>
      </p:sp>
      <p:sp>
        <p:nvSpPr>
          <p:cNvPr id="12" name="card 4  Invalid ADC value"/>
          <p:cNvSpPr/>
          <p:nvPr/>
        </p:nvSpPr>
        <p:spPr>
          <a:xfrm>
            <a:off x="457200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03580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  Invalid ADC value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383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Frame errors and railed readings are rejected immediately.</a:t>
            </a:r>
            <a:endParaRPr lang="en-US" sz="1400" dirty="0"/>
          </a:p>
        </p:txBody>
      </p:sp>
      <p:sp>
        <p:nvSpPr>
          <p:cNvPr id="15" name="card 5  Safe output state"/>
          <p:cNvSpPr/>
          <p:nvPr/>
        </p:nvSpPr>
        <p:spPr>
          <a:xfrm>
            <a:off x="3264408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01568" y="303580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 Safe output state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01568" y="3383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PWM forced low on the next clock, not at the next period.</a:t>
            </a:r>
            <a:endParaRPr lang="en-US" sz="1400" dirty="0"/>
          </a:p>
        </p:txBody>
      </p:sp>
      <p:sp>
        <p:nvSpPr>
          <p:cNvPr id="18" name="card 6  AI override"/>
          <p:cNvSpPr/>
          <p:nvPr/>
        </p:nvSpPr>
        <p:spPr>
          <a:xfrm>
            <a:off x="6071616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08776" y="303580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6  AI override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08776" y="3383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is ignored when invalid or when any hard limit trips.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Verilog modules</a:t>
            </a:r>
            <a:endParaRPr lang="en-US" sz="3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11480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Module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Checks passed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adc_interface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SPI frame reader, 12-bit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input_conditioning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Range and frame validity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force_lut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Fixed transfer function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safety_governor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Hard limits and AI override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pwm_generator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24.4 kHz PWM, instant kill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fault_handler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E-stop and sensor faults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ai_control_interface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AI result and heartbeat check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tactile_reflex_top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Full path integration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Verification results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134 / 134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965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directed checks pass across 8 testbenches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3931920" cy="1508760"/>
          </a:xfrm>
          <a:prstGeom prst="roundRect">
            <a:avLst>
              <a:gd name="adj" fmla="val 48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971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2 x 1,800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657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replayed vectors with zero safety violations</a:t>
            </a:r>
            <a:endParaRPr lang="en-US" sz="1400" dirty="0"/>
          </a:p>
        </p:txBody>
      </p:sp>
      <p:sp>
        <p:nvSpPr>
          <p:cNvPr id="9" name="card Cases covere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09160" y="12984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Cases covered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169164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No, light and normal contact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High and excessive force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 class changes and AI failure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Emergency stop and sensor failure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Reset and LUT boundaries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PWM duty and instant kill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 overridden by the Governor</a:t>
            </a:r>
            <a:endParaRPr lang="en-US" sz="3600" dirty="0"/>
          </a:p>
        </p:txBody>
      </p:sp>
      <p:pic>
        <p:nvPicPr>
          <p:cNvPr id="3" name="Image 0" descr="Waveform: force exceeds FORCE_MAX while AI class stays 2; safe_state rises and pwm_out fa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937760" cy="3401568"/>
          </a:xfrm>
          <a:prstGeom prst="rect">
            <a:avLst/>
          </a:prstGeom>
        </p:spPr>
      </p:pic>
      <p:sp>
        <p:nvSpPr>
          <p:cNvPr id="4" name="card AI says class 2"/>
          <p:cNvSpPr/>
          <p:nvPr/>
        </p:nvSpPr>
        <p:spPr>
          <a:xfrm>
            <a:off x="5577840" y="118872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0" y="12984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AI says class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645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Normal grip, valid, steady.</a:t>
            </a:r>
            <a:endParaRPr lang="en-US" sz="1400" dirty="0"/>
          </a:p>
        </p:txBody>
      </p:sp>
      <p:sp>
        <p:nvSpPr>
          <p:cNvPr id="7" name="card Force passes FORCE_MAX"/>
          <p:cNvSpPr/>
          <p:nvPr/>
        </p:nvSpPr>
        <p:spPr>
          <a:xfrm>
            <a:off x="5577840" y="237744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15000" y="24871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Force passes FORCE_MAX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2834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Governor trips the safe state.</a:t>
            </a:r>
            <a:endParaRPr lang="en-US" sz="1400" dirty="0"/>
          </a:p>
        </p:txBody>
      </p:sp>
      <p:sp>
        <p:nvSpPr>
          <p:cNvPr id="10" name="card PWM goes low"/>
          <p:cNvSpPr/>
          <p:nvPr/>
        </p:nvSpPr>
        <p:spPr>
          <a:xfrm>
            <a:off x="5577840" y="3566160"/>
            <a:ext cx="31089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15000" y="36758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PWM goes low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4023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input ignored.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55371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RTL simulation, 100 MHz clock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FPGA path latency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40 ns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ADC sample to PWM low: 4 clock cycles, jitter 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50 ns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E-stop input to PWM low: 5 clock cycles, jitter 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880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1.68 us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5661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ADC frame time: 168 cycles at 10 MHz SCLK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7889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880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1.67 - 3.22 us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5661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Input change to PWM low; jitter 1.55 us from ADC frame phase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RTL simulation, 100 MHz clock, behavioural ADC model. T_FPGA is reported separately from T_ML.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Lightweight AI/ML model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0" y="411480"/>
            <a:ext cx="1828800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0" y="411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SIMULATED DATA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Decision tree: depth 4, 16 leaves (scikit-learn)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Six features: force, previous force, rate of change, moving average, contact duration, last delta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420 training and 180 test episodes, split by episode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Labels come from the scenario that generated each episode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188720"/>
          <a:ext cx="37490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Class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Meaning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 contact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Light contact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Normal grip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Excessive force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937760" y="36576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Output maps to control states sent to the PL.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AI/ML evaluation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0" y="411480"/>
            <a:ext cx="1828800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0" y="411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SIMULATED DATA</a:t>
            </a:r>
            <a:endParaRPr lang="en-US" sz="1200" dirty="0"/>
          </a:p>
        </p:txBody>
      </p:sp>
      <p:pic>
        <p:nvPicPr>
          <p:cNvPr id="5" name="Image 0" descr="Confusion matrix on the simulated test s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931920" cy="332841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887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Class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0.995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0.985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0.937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0.804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0.859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0.941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0.719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663440" y="306324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800600" y="3154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91.9%</a:t>
            </a:r>
            <a:endParaRPr lang="en-US" sz="2800" dirty="0"/>
          </a:p>
        </p:txBody>
      </p:sp>
      <p:sp>
        <p:nvSpPr>
          <p:cNvPr id="9" name="Text 5"/>
          <p:cNvSpPr txBox="1"/>
          <p:nvPr/>
        </p:nvSpPr>
        <p:spPr>
          <a:xfrm>
            <a:off x="4800600" y="3840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accuracy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766560" y="306324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03720" y="3154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85.4%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6903720" y="3840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force-only baseline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 inside the safety envelope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0" y="411480"/>
            <a:ext cx="1828800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0" y="411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SIMULATED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73736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88 / 88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over-limit samples forced to the safe state while the AI always claimed normal grip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006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6.6 us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196596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median T_ML per decision (p99 22.9 us), measured on the development host</a:t>
            </a:r>
            <a:endParaRPr lang="en-US" sz="1400" dirty="0"/>
          </a:p>
        </p:txBody>
      </p:sp>
      <p:sp>
        <p:nvSpPr>
          <p:cNvPr id="11" name="card Separate numbers"/>
          <p:cNvSpPr/>
          <p:nvPr/>
        </p:nvSpPr>
        <p:spPr>
          <a:xfrm>
            <a:off x="457200" y="3108960"/>
            <a:ext cx="82296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3218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Separate numbers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56616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T_FPGA and T_ML are never added together. The safety claim rests on the FPGA path alone; the AI path adds higher-level information.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SDG alignment</a:t>
            </a:r>
            <a:endParaRPr lang="en-US" sz="3600" dirty="0"/>
          </a:p>
        </p:txBody>
      </p:sp>
      <p:sp>
        <p:nvSpPr>
          <p:cNvPr id="3" name="card SDG 9  Industry, Innovation, Infrastructure"/>
          <p:cNvSpPr/>
          <p:nvPr/>
        </p:nvSpPr>
        <p:spPr>
          <a:xfrm>
            <a:off x="457200" y="118872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SDG 9  Industry, Innovation, Infrastructure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Targets 9.5, 9.b: reproducible FPGA + AI reference design.</a:t>
            </a:r>
            <a:endParaRPr lang="en-US" sz="1400" dirty="0"/>
          </a:p>
        </p:txBody>
      </p:sp>
      <p:sp>
        <p:nvSpPr>
          <p:cNvPr id="6" name="card SDG 8  Decent Work and Growth"/>
          <p:cNvSpPr/>
          <p:nvPr/>
        </p:nvSpPr>
        <p:spPr>
          <a:xfrm>
            <a:off x="4663440" y="118872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SDG 8  Decent Work and Growth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Targets 8.2, 8.8: hardware force limits for safer human-robot work.</a:t>
            </a:r>
            <a:endParaRPr lang="en-US" sz="1400" dirty="0"/>
          </a:p>
        </p:txBody>
      </p:sp>
      <p:sp>
        <p:nvSpPr>
          <p:cNvPr id="9" name="card SDG 3"/>
          <p:cNvSpPr/>
          <p:nvPr/>
        </p:nvSpPr>
        <p:spPr>
          <a:xfrm>
            <a:off x="45720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Assistive and prosthetic grippers</a:t>
            </a:r>
            <a:endParaRPr lang="en-US" sz="1400" dirty="0"/>
          </a:p>
        </p:txBody>
      </p:sp>
      <p:sp>
        <p:nvSpPr>
          <p:cNvPr id="12" name="card SDG 12"/>
          <p:cNvSpPr/>
          <p:nvPr/>
        </p:nvSpPr>
        <p:spPr>
          <a:xfrm>
            <a:off x="210312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4028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12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Less damage to fragile goods</a:t>
            </a:r>
            <a:endParaRPr lang="en-US" sz="1400" dirty="0"/>
          </a:p>
        </p:txBody>
      </p:sp>
      <p:sp>
        <p:nvSpPr>
          <p:cNvPr id="15" name="card SDG 2"/>
          <p:cNvSpPr/>
          <p:nvPr/>
        </p:nvSpPr>
        <p:spPr>
          <a:xfrm>
            <a:off x="374904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8620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88620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Gentle harvesting</a:t>
            </a:r>
            <a:endParaRPr lang="en-US" sz="1400" dirty="0"/>
          </a:p>
        </p:txBody>
      </p:sp>
      <p:sp>
        <p:nvSpPr>
          <p:cNvPr id="18" name="card SDG 4"/>
          <p:cNvSpPr/>
          <p:nvPr/>
        </p:nvSpPr>
        <p:spPr>
          <a:xfrm>
            <a:off x="539496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3212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teaching platform</a:t>
            </a:r>
            <a:endParaRPr lang="en-US" sz="1400" dirty="0"/>
          </a:p>
        </p:txBody>
      </p:sp>
      <p:sp>
        <p:nvSpPr>
          <p:cNvPr id="21" name="card SDG 10"/>
          <p:cNvSpPr/>
          <p:nvPr/>
        </p:nvSpPr>
        <p:spPr>
          <a:xfrm>
            <a:off x="704088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804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10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Affordable assistive devices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389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 enabling technology; it does not claim to achieve the goals.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National and international uses</a:t>
            </a:r>
            <a:endParaRPr lang="en-US" sz="3600" dirty="0"/>
          </a:p>
        </p:txBody>
      </p:sp>
      <p:sp>
        <p:nvSpPr>
          <p:cNvPr id="3" name="card National"/>
          <p:cNvSpPr/>
          <p:nvPr/>
        </p:nvSpPr>
        <p:spPr>
          <a:xfrm>
            <a:off x="45720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National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Manufacturing and SME automation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Rehabilitation and assistive devices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Agriculture and food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Logistics and warehouses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Education and local R&amp;D</a:t>
            </a:r>
            <a:endParaRPr lang="en-US" sz="1400" dirty="0"/>
          </a:p>
        </p:txBody>
      </p:sp>
      <p:sp>
        <p:nvSpPr>
          <p:cNvPr id="6" name="card International"/>
          <p:cNvSpPr/>
          <p:nvPr/>
        </p:nvSpPr>
        <p:spPr>
          <a:xfrm>
            <a:off x="466344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International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69164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Collaborative robotics (ISO 10218, ISO/TS 15066 as references)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Low-resource assistive devices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Hazardous remote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Global teaching and shared benchmarks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Distinctive technical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88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Tactile sensing with AI/ML-assisted interpretation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1188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Fixed-function FPGA tactile-to-actuation transfer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194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Independent hardware Safety Governor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286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03520" y="2194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software control loop in the reflex path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200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Deterministic, bounded hardware response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3291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03520" y="3200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result checked against hard limits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389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Technical description only; no legal or patentability conclusion.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Conclusion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A deterministic FPGA reflex path enforces the hard limits.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The AI path adds contact classification and can only lower the command.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134 directed checks and 3,600 replayed vectors confirm the override behaviour in simulation.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ctile Reflex">
  <a:themeElements>
    <a:clrScheme name="Tactile Reflex">
      <a:dk1>
        <a:srgbClr val="1B2430"/>
      </a:dk1>
      <a:lt1>
        <a:srgbClr val="FFFFFF"/>
      </a:lt1>
      <a:dk2>
        <a:srgbClr val="0F3D3E"/>
      </a:dk2>
      <a:lt2>
        <a:srgbClr val="EAF1F1"/>
      </a:lt2>
      <a:accent1>
        <a:srgbClr val="0E7C7B"/>
      </a:accent1>
      <a:accent2>
        <a:srgbClr val="F2A900"/>
      </a:accent2>
      <a:accent3>
        <a:srgbClr val="C8404F"/>
      </a:accent3>
      <a:accent4>
        <a:srgbClr val="3D5A80"/>
      </a:accent4>
      <a:accent5>
        <a:srgbClr val="5F7380"/>
      </a:accent5>
      <a:accent6>
        <a:srgbClr val="2E9E6B"/>
      </a:accent6>
      <a:hlink>
        <a:srgbClr val="0E7C7B"/>
      </a:hlink>
      <a:folHlink>
        <a:srgbClr val="5F7380"/>
      </a:folHlink>
    </a:clrScheme>
    <a:fontScheme name="Tactile Reflex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Latency-Optimal Tactile Reflex System</dc:title>
  <dc:subject>PptxGenJS Presentation</dc:subject>
  <dc:creator>PptxGenJS</dc:creator>
  <cp:lastModifiedBy>PptxGenJS</cp:lastModifiedBy>
  <cp:revision>1</cp:revision>
  <dcterms:created xsi:type="dcterms:W3CDTF">2026-10-24T06:28:20Z</dcterms:created>
  <dcterms:modified xsi:type="dcterms:W3CDTF">2026-10-24T06:28:20Z</dcterms:modified>
</cp:coreProperties>
</file>